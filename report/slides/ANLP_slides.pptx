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0A3D7A"/>
                </a:solidFill>
                <a:latin typeface="Calibri"/>
              </a:rPr>
              <a:t>Summarising Football Match Commentaries</a:t>
            </a:r>
          </a:p>
          <a:p>
            <a:r>
              <a:rPr sz="2000" b="0" i="0">
                <a:solidFill>
                  <a:srgbClr val="222222"/>
                </a:solidFill>
                <a:latin typeface="Calibri"/>
              </a:rPr>
              <a:t>A Comparative Study of Prompting and Fine-tuning on Long-form Sports Audio Transcripts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206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22222"/>
                </a:solidFill>
                <a:latin typeface="Calibri"/>
              </a:rPr>
              <a:t>Marco Panciera  ·  Christian Dalfarra</a:t>
            </a:r>
          </a:p>
          <a:p>
            <a:r>
              <a:rPr sz="1400" b="0" i="0">
                <a:solidFill>
                  <a:srgbClr val="666666"/>
                </a:solidFill>
                <a:latin typeface="Calibri"/>
              </a:rPr>
              <a:t>Applied Natural Language Processing — University of Trento —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The task: 2.5 hours of radio → 300-word match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Input: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Whisper transcript of live BBC Radio 5 commentary — median ~25,000 words, noisy, fragmented, full of irrelevant detail.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Output: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a structured match report (~300 words): score line, key events, short tactical note.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Why it is hard: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inputs exceed every standard transformer context window (1,024 tokens ≈ 4% of a match); references for training are scarce.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A3D7A"/>
                </a:solidFill>
                <a:latin typeface="Calibri"/>
              </a:rPr>
              <a:t>Two empirically answerable questions: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1.  Chunk-and-aggregate, or a long-context encoder (LED-16384)?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2.  For each input strategy — prompting a general model, or fine-tuning on small in-domain data?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A custom dataset: 99 matches, 43 years, 12 competitions</a:t>
            </a:r>
          </a:p>
          <a:p>
            <a:r>
              <a:rPr sz="1300" b="0" i="0">
                <a:solidFill>
                  <a:srgbClr val="C9D8EC"/>
                </a:solidFill>
                <a:latin typeface="Calibri"/>
              </a:rPr>
              <a:t>BBC radio audio  →  Whisper transcription  →  GPT-4 reference summaries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Audio: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BBC Radio 5 Live archive (YouTube, via yt-dlp) — ~19 GB MP3, matches from 1983 to 2026.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Transcription: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Whisper-small; full transcript + time-aligned segments with pitch/energy prosodic features.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References: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GPT-4 (ChatGPT web, search enabled) prompted per match identifier; facts grounded in web-retrieved match reports, BBC sourcing verified for every match; fixed template, ~300 words. A pragmatic, disclosed compromise — no human summaries exist for radio commentary.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Split: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80 train / 10 val / 9 test, stratified, committed to the repo for reproducibility.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B00000"/>
                </a:solidFill>
                <a:latin typeface="Calibri"/>
              </a:rPr>
              <a:t>Known noise floor: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Whisper systematically corrupts player names (“Bergkamp” → “Burgkamp”) — an irreducible ceiling on surface-overlap 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Design: 2 input pipelines × 2 learning paradigms</a:t>
            </a:r>
          </a:p>
          <a:p>
            <a:r>
              <a:rPr sz="1300" b="0" i="0">
                <a:solidFill>
                  <a:srgbClr val="C9D8EC"/>
                </a:solidFill>
                <a:latin typeface="Calibri"/>
              </a:rPr>
              <a:t>3 architectures · 3 prompt styles · 11 evaluated conditions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023360"/>
                <a:gridCol w="4023360"/>
              </a:tblGrid>
              <a:tr h="94488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A3D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Chunk + aggregate</a:t>
                      </a:r>
                    </a:p>
                  </a:txBody>
                  <a:tcPr>
                    <a:solidFill>
                      <a:srgbClr val="0A3D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Long-context (16,384 tokens)</a:t>
                      </a:r>
                    </a:p>
                  </a:txBody>
                  <a:tcPr>
                    <a:solidFill>
                      <a:srgbClr val="0A3D7A"/>
                    </a:solidFill>
                  </a:tcPr>
                </a:tc>
              </a:tr>
              <a:tr h="94488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Prompting</a:t>
                      </a:r>
                    </a:p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(zero / few / CoT)</a:t>
                      </a:r>
                    </a:p>
                  </a:txBody>
                  <a:tcPr>
                    <a:solidFill>
                      <a:srgbClr val="0A3D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FLAN-T5-Large (512)</a:t>
                      </a:r>
                    </a:p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BART-Large-CNN (1,024)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LED-base-16384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4488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Fine-tuning</a:t>
                      </a:r>
                    </a:p>
                  </a:txBody>
                  <a:tcPr>
                    <a:solidFill>
                      <a:srgbClr val="0A3D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BART as the merge step</a:t>
                      </a:r>
                    </a:p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(“chunk-merger” recipe)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LED on 8,192-token</a:t>
                      </a:r>
                    </a:p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random windows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5720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Chunk + aggregate: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segment-aligned chunks with 1-segment overlap → per-chunk summary → merge → BoW-cosine dedup.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Long-context: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whole transcript in one LED forward pass; global attention on BOS; gradient checkpointing on a T4.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All experiments on free-tier Kaggle (1× T4, 15.6 GB); seeds fixed; every prediction saved to disk.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Results: fine-tuning wins by a wide margin</a:t>
            </a:r>
          </a:p>
          <a:p>
            <a:r>
              <a:rPr sz="1300" b="0" i="0">
                <a:solidFill>
                  <a:srgbClr val="C9D8EC"/>
                </a:solidFill>
                <a:latin typeface="Calibri"/>
              </a:rPr>
              <a:t>Test ROUGE-L, clean 9-match test set (run 4)</a:t>
            </a:r>
          </a:p>
        </p:txBody>
      </p:sp>
      <p:pic>
        <p:nvPicPr>
          <p:cNvPr id="3" name="Picture 2" descr="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25880"/>
            <a:ext cx="10149840" cy="52583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66666"/>
                </a:solidFill>
                <a:latin typeface="Calibri"/>
              </a:rPr>
              <a:t>* Fine-tuned LED trained before the dataset fix; scored on the 5 valid-reference test matches — close, but not strictly comparable to the 9-match protocol of the other rows.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Finding 1 — Match the training distribution, not the context window</a:t>
            </a:r>
          </a:p>
          <a:p>
            <a:r>
              <a:rPr sz="1300" b="0" i="0">
                <a:solidFill>
                  <a:srgbClr val="C9D8EC"/>
                </a:solidFill>
                <a:latin typeface="Calibri"/>
              </a:rPr>
              <a:t>The “chunk-merger” fine-tuning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Naive fine-tuning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on (transcript[:1024] → gold) shows BART only the first ~5 minutes of a 2.5-hour match.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A3D7A"/>
                </a:solidFill>
                <a:latin typeface="Calibri"/>
              </a:rPr>
              <a:t>Chunk-merger recipe: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run pre-trained BART on every chunk → concatenate the ~30 mini-summaries (~960 tokens) → fine-tune BART to map that intermediate to the gold report. Training input now matches what the model sees at inference.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Two-phase schedule: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encoder frozen 3 epochs, then unfrozen; early stopping on val ROUGE-L.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Same model, same pipeline, same test set:</a:t>
            </a:r>
          </a:p>
          <a:p>
            <a:pPr lvl="1">
              <a:spcAft>
                <a:spcPts val="800"/>
              </a:spcAft>
            </a:pPr>
            <a:r>
              <a:rPr sz="2200" b="1" i="0">
                <a:solidFill>
                  <a:srgbClr val="0A3D7A"/>
                </a:solidFill>
                <a:latin typeface="Calibri"/>
              </a:rPr>
              <a:t>pre-trained BART 0.147   →   fine-tuned BART 0.248  ( +69% relative )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+55% over the strongest prompting condition of any architecture (LED few-shot, 0.160).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Finding 2 — Long context wins at prompting, loses at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Prompting: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LED long-context (avg 0.158) beats BART chunk (0.124) and FLAN chunk (0.058) — the 16k window preserves cross-segment information that chunking discards.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Fine-tuning: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the ranking inverts — BART chunk-merger 0.248 vs fine-tuned LED 0.219.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A3D7A"/>
                </a:solidFill>
                <a:latin typeface="Calibri"/>
              </a:rPr>
              <a:t>Why: sample efficiency at N = 80.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BART learns from a ~960-token pre-distilled intermediate whose features are already informative.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LED must learn what matters inside raw 8,192-token windows from scratch — too few pairs to learn long-range attention patterns.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Secondary finding: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zero-shot beats few-shot and CoT in every model family — examples eat the input budget in chunked pipelines, and LED-base is not instruction-tuned, so prompt style barely matters.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Finding 3 — Models learn the format, not the facts</a:t>
            </a:r>
          </a:p>
          <a:p>
            <a:r>
              <a:rPr sz="1300" b="0" i="0">
                <a:solidFill>
                  <a:srgbClr val="C9D8EC"/>
                </a:solidFill>
                <a:latin typeface="Calibri"/>
              </a:rPr>
              <a:t>Test match: 2001 FA Cup Final — true result: Liverpool 2–1 Arsenal, Millennium Stadium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5486400" cy="2011680"/>
          </a:xfrm>
          <a:prstGeom prst="rect">
            <a:avLst/>
          </a:prstGeom>
          <a:solidFill>
            <a:srgbClr val="F2F5FA"/>
          </a:solidFill>
          <a:ln w="9525">
            <a:solidFill>
              <a:srgbClr val="C5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/>
            <a:r>
              <a:rPr sz="1300" b="1" i="0">
                <a:solidFill>
                  <a:srgbClr val="0A3D7A"/>
                </a:solidFill>
                <a:latin typeface="Calibri"/>
              </a:rPr>
              <a:t>Fine-tuned BART (best model)</a:t>
            </a:r>
          </a:p>
          <a:p>
            <a:r>
              <a:rPr sz="1300" b="0" i="1">
                <a:solidFill>
                  <a:srgbClr val="222222"/>
                </a:solidFill>
                <a:latin typeface="Calibri"/>
              </a:rPr>
              <a:t>“Liverpool 1–1 Arsenal (Liverpool win 2–3 on penalties) 20 May 2014 — Emirates Stadium, London. The match was contested … in the 2014 FA Cup Final…”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263640" y="1463040"/>
            <a:ext cx="5486400" cy="2011680"/>
          </a:xfrm>
          <a:prstGeom prst="rect">
            <a:avLst/>
          </a:prstGeom>
          <a:solidFill>
            <a:srgbClr val="F2F5FA"/>
          </a:solidFill>
          <a:ln w="9525">
            <a:solidFill>
              <a:srgbClr val="C5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/>
            <a:r>
              <a:rPr sz="1300" b="1" i="0">
                <a:solidFill>
                  <a:srgbClr val="0A3D7A"/>
                </a:solidFill>
                <a:latin typeface="Calibri"/>
              </a:rPr>
              <a:t>Fine-tuned LED</a:t>
            </a:r>
          </a:p>
          <a:p>
            <a:r>
              <a:rPr sz="1300" b="0" i="1">
                <a:solidFill>
                  <a:srgbClr val="222222"/>
                </a:solidFill>
                <a:latin typeface="Calibri"/>
              </a:rPr>
              <a:t>“Liverpool 1–0 Arsenal, Premier League, 20 May 2001 — Anfield, Anfield, Emirates Stadium, Anfield… Liverpool dominated the first half…”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Perfect surface form — score line, date line, report prose — with the year, stadium, competition and result all invented.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B00000"/>
                </a:solidFill>
                <a:latin typeface="Calibri"/>
              </a:rPr>
              <a:t>ROUGE rewards it anyway: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the n-grams that overlap with the reference (team names, date formats, “in the Xth minute”) are exactly what the models do reproduce; hallucinated facts cost nothing.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Prompted baselines fail differently: FLAN emits template fragments; LED continues the commentary instead of summarising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The biggest improvement was not a model change</a:t>
            </a:r>
          </a:p>
          <a:p>
            <a:r>
              <a:rPr sz="1300" b="0" i="0">
                <a:solidFill>
                  <a:srgbClr val="C9D8EC"/>
                </a:solidFill>
                <a:latin typeface="Calibri"/>
              </a:rPr>
              <a:t>Five silent LED training failures + one dataset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B00000"/>
                </a:solidFill>
                <a:latin typeface="Calibri"/>
              </a:rPr>
              <a:t>33% of training references were 0-byte files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(and 44% of test references) — silently teaching models to emit empty strings and deflating every score ~1.8×.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Predicted correction ratio matched the measured one almost exactly (e.g. fine-tuned BART 0.136 → 0.248 after the fix).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LED also needed 5 bug fixes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(defeated random-window sampler, collapse-to-EOS, decoder sentinel overflow, lost checkpoint, CLI truncation).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A3D7A"/>
                </a:solidFill>
                <a:latin typeface="Calibri"/>
              </a:rPr>
              <a:t>After the fixes: a clean, monotone training curve → the earlier collapses were data and code defects, not modelling limits.</a:t>
            </a:r>
          </a:p>
        </p:txBody>
      </p:sp>
      <p:pic>
        <p:nvPicPr>
          <p:cNvPr id="4" name="Picture 3" descr="led_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37360"/>
            <a:ext cx="5212080" cy="29321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37960" y="5166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66666"/>
                </a:solidFill>
                <a:latin typeface="Calibri"/>
              </a:rPr>
              <a:t>LED fine-tuning after the fixes: val ROUGE-L peaks at 0.172 (epoch 9).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Conclusions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1.  Fine-tuning a distribution-matched chunk pipeline is the best recipe at small N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— +69% over the same pre-trained model, +55% over the best prompting baseline.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2.  Context length is not a substitute for supervision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— long-context wins only when no fine-tuning is possible.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3.  Surface metrics cannot see the failure that matters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— fluent, confidently wrong match reports score well on ROUGE. Faithfulness evaluation is the natural next step.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B00000"/>
                </a:solidFill>
                <a:latin typeface="Calibri"/>
              </a:rPr>
              <a:t>Limitations we state openly: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Search-grounded GPT-4 references → facts anchored in web reports, but still ungrounded in the transcript, stylistically homogeneous, and not exactly reproducible (search results drift).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n = 9 test matches → differences within ±0.02 ROUGE-L are noise; no significance testing.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N = 80 training pairs → both fine-tuned models overfit (val 0.31 → test 0.25 for BART).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Fine-tuned LED not re-trained after the dataset fix → its 0.219 is a valid-only re-evaluation.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
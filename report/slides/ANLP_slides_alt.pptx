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D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DD6B8"/>
                </a:solidFill>
                <a:latin typeface="Calibri"/>
              </a:rPr>
              <a:t>APPLIED NATURAL LANGUAGE PROCESSING  ·  UNIVERSITY OF TRENTO  ·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4F6FA"/>
                </a:solidFill>
                <a:latin typeface="Georgia"/>
              </a:rPr>
              <a:t>Summarising Football Match Commentaries</a:t>
            </a:r>
          </a:p>
          <a:p>
            <a:r>
              <a:rPr sz="2000" b="0" i="0">
                <a:solidFill>
                  <a:srgbClr val="939FB0"/>
                </a:solidFill>
                <a:latin typeface="Calibri"/>
              </a:rPr>
              <a:t>A comparative study of prompting and fine-tuning on long-form sports audio transcripts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709160"/>
            <a:ext cx="3840480" cy="32004"/>
          </a:xfrm>
          <a:prstGeom prst="rect">
            <a:avLst/>
          </a:prstGeom>
          <a:solidFill>
            <a:srgbClr val="24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4F6FA"/>
                </a:solidFill>
                <a:latin typeface="Calibri"/>
              </a:rPr>
              <a:t>Marco Panciera   ·   Christian Dalfarra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3D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DD6B8"/>
                </a:solidFill>
                <a:latin typeface="Calibri"/>
              </a:rPr>
              <a:t>THE TASK</a:t>
            </a:r>
            <a:r>
              <a:t>  </a:t>
            </a:r>
            <a:r>
              <a:rPr sz="1200" b="1" i="0">
                <a:solidFill>
                  <a:srgbClr val="939FB0"/>
                </a:solidFill>
                <a:latin typeface="Calibri"/>
              </a:rPr>
              <a:t>· 02</a:t>
            </a:r>
          </a:p>
          <a:p>
            <a:r>
              <a:rPr sz="2600" b="1" i="0">
                <a:solidFill>
                  <a:srgbClr val="F4F6FA"/>
                </a:solidFill>
                <a:latin typeface="Georgia"/>
              </a:rPr>
              <a:t>2.5 hours of radio → a 200-word match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800" b="1" i="0">
                <a:solidFill>
                  <a:srgbClr val="3DD6B8"/>
                </a:solidFill>
                <a:latin typeface="Calibri"/>
              </a:rPr>
              <a:t>Input:  </a:t>
            </a:r>
            <a:r>
              <a:rPr sz="1800" b="0" i="0">
                <a:solidFill>
                  <a:srgbClr val="F4F6FA"/>
                </a:solidFill>
                <a:latin typeface="Calibri"/>
              </a:rPr>
              <a:t>Whisper transcript of live BBC Radio 5 commentary — mean ~25,000 words, noisy, fragmented, full of irrelevant detail.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800" b="1" i="0">
                <a:solidFill>
                  <a:srgbClr val="3DD6B8"/>
                </a:solidFill>
                <a:latin typeface="Calibri"/>
              </a:rPr>
              <a:t>Output:  </a:t>
            </a:r>
            <a:r>
              <a:rPr sz="1800" b="0" i="0">
                <a:solidFill>
                  <a:srgbClr val="F4F6FA"/>
                </a:solidFill>
                <a:latin typeface="Calibri"/>
              </a:rPr>
              <a:t>a structured match report (~200 words): score line, key events, short tactical note.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800" b="1" i="0">
                <a:solidFill>
                  <a:srgbClr val="3DD6B8"/>
                </a:solidFill>
                <a:latin typeface="Calibri"/>
              </a:rPr>
              <a:t>Why it is hard:  </a:t>
            </a:r>
            <a:r>
              <a:rPr sz="1800" b="0" i="0">
                <a:solidFill>
                  <a:srgbClr val="F4F6FA"/>
                </a:solidFill>
                <a:latin typeface="Calibri"/>
              </a:rPr>
              <a:t>inputs exceed every standard transformer context window (1,024 tokens ≈ 4% of a match); references for training are scarce.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4F6FA"/>
                </a:solidFill>
                <a:latin typeface="Calibri"/>
              </a:rPr>
              <a:t/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800" b="1" i="0">
                <a:solidFill>
                  <a:srgbClr val="F3C059"/>
                </a:solidFill>
                <a:latin typeface="Calibri"/>
              </a:rPr>
              <a:t>Two empirically answerable questions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F4F6FA"/>
                </a:solidFill>
                <a:latin typeface="Calibri"/>
              </a:rPr>
              <a:t>1.  Chunk-and-aggregate, or a long-context encoder (LED-16384)?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F4F6FA"/>
                </a:solidFill>
                <a:latin typeface="Calibri"/>
              </a:rPr>
              <a:t>2.  For each input strategy — prompting a general model, or fine-tuning on small in-domain data?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39FB0"/>
                </a:solidFill>
                <a:latin typeface="Calibri"/>
              </a:rPr>
              <a:t>Summarising Football Commentaries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DD6B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3D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DD6B8"/>
                </a:solidFill>
                <a:latin typeface="Calibri"/>
              </a:rPr>
              <a:t>DATASET</a:t>
            </a:r>
            <a:r>
              <a:t>  </a:t>
            </a:r>
            <a:r>
              <a:rPr sz="1200" b="1" i="0">
                <a:solidFill>
                  <a:srgbClr val="939FB0"/>
                </a:solidFill>
                <a:latin typeface="Calibri"/>
              </a:rPr>
              <a:t>· 03</a:t>
            </a:r>
          </a:p>
          <a:p>
            <a:r>
              <a:rPr sz="2600" b="1" i="0">
                <a:solidFill>
                  <a:srgbClr val="F4F6FA"/>
                </a:solidFill>
                <a:latin typeface="Georgia"/>
              </a:rPr>
              <a:t>99 matches, 43 years, 12 competition categories</a:t>
            </a:r>
          </a:p>
          <a:p>
            <a:r>
              <a:rPr sz="1300" b="0" i="0">
                <a:solidFill>
                  <a:srgbClr val="939FB0"/>
                </a:solidFill>
                <a:latin typeface="Calibri"/>
              </a:rPr>
              <a:t>BBC radio audio  →  Whisper transcription  →  GPT-4 reference summaries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DD6B8"/>
                </a:solidFill>
                <a:latin typeface="Calibri"/>
              </a:rPr>
              <a:t>Audio:  </a:t>
            </a:r>
            <a:r>
              <a:rPr sz="1700" b="0" i="0">
                <a:solidFill>
                  <a:srgbClr val="F4F6FA"/>
                </a:solidFill>
                <a:latin typeface="Calibri"/>
              </a:rPr>
              <a:t>BBC Radio 5 Live archive (YouTube, via yt-dlp) — ~19 GB MP3, matches from 1983 to 2026.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DD6B8"/>
                </a:solidFill>
                <a:latin typeface="Calibri"/>
              </a:rPr>
              <a:t>Transcription:  </a:t>
            </a:r>
            <a:r>
              <a:rPr sz="1700" b="0" i="0">
                <a:solidFill>
                  <a:srgbClr val="F4F6FA"/>
                </a:solidFill>
                <a:latin typeface="Calibri"/>
              </a:rPr>
              <a:t>Whisper-small; full transcript + time-aligned segments with pitch/energy prosodic features.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DD6B8"/>
                </a:solidFill>
                <a:latin typeface="Calibri"/>
              </a:rPr>
              <a:t>References:  </a:t>
            </a:r>
            <a:r>
              <a:rPr sz="1700" b="0" i="0">
                <a:solidFill>
                  <a:srgbClr val="F4F6FA"/>
                </a:solidFill>
                <a:latin typeface="Calibri"/>
              </a:rPr>
              <a:t>GPT-4 (ChatGPT web, search enabled) prompted per match identifier; facts grounded in web-retrieved match reports, BBC sourcing verified for every match; fixed template, ~190 words. A pragmatic, disclosed compromise — no human summaries exist for radio commentary.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DD6B8"/>
                </a:solidFill>
                <a:latin typeface="Calibri"/>
              </a:rPr>
              <a:t>Split:  </a:t>
            </a:r>
            <a:r>
              <a:rPr sz="1700" b="0" i="0">
                <a:solidFill>
                  <a:srgbClr val="F4F6FA"/>
                </a:solidFill>
                <a:latin typeface="Calibri"/>
              </a:rPr>
              <a:t>80 train / 10 val / 9 test, stratified, committed to the repo for reproducibility.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F4F6FA"/>
                </a:solidFill>
                <a:latin typeface="Calibri"/>
              </a:rPr>
              <a:t/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F27A6E"/>
                </a:solidFill>
                <a:latin typeface="Calibri"/>
              </a:rPr>
              <a:t>Known noise floor:  </a:t>
            </a:r>
            <a:r>
              <a:rPr sz="1700" b="0" i="0">
                <a:solidFill>
                  <a:srgbClr val="F4F6FA"/>
                </a:solidFill>
                <a:latin typeface="Calibri"/>
              </a:rPr>
              <a:t>Whisper systematically corrupts player names (“Bergkamp” → “Burgkamp”) — an irreducible ceiling on surface-overlap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39FB0"/>
                </a:solidFill>
                <a:latin typeface="Calibri"/>
              </a:rPr>
              <a:t>Summarising Football Commentaries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DD6B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3D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DD6B8"/>
                </a:solidFill>
                <a:latin typeface="Calibri"/>
              </a:rPr>
              <a:t>DESIGN</a:t>
            </a:r>
            <a:r>
              <a:t>  </a:t>
            </a:r>
            <a:r>
              <a:rPr sz="1200" b="1" i="0">
                <a:solidFill>
                  <a:srgbClr val="939FB0"/>
                </a:solidFill>
                <a:latin typeface="Calibri"/>
              </a:rPr>
              <a:t>· 04</a:t>
            </a:r>
          </a:p>
          <a:p>
            <a:r>
              <a:rPr sz="2600" b="1" i="0">
                <a:solidFill>
                  <a:srgbClr val="F4F6FA"/>
                </a:solidFill>
                <a:latin typeface="Georgia"/>
              </a:rPr>
              <a:t>2 input pipelines × 2 learning paradigms</a:t>
            </a:r>
          </a:p>
          <a:p>
            <a:r>
              <a:rPr sz="1300" b="0" i="0">
                <a:solidFill>
                  <a:srgbClr val="939FB0"/>
                </a:solidFill>
                <a:latin typeface="Calibri"/>
              </a:rPr>
              <a:t>3 architectures · 3 prompt styles · 11 evaluated conditions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65960"/>
          <a:ext cx="1060703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977639"/>
                <a:gridCol w="3977639"/>
              </a:tblGrid>
              <a:tr h="883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3DD6B8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42F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3DD6B8"/>
                          </a:solidFill>
                          <a:latin typeface="Calibri"/>
                        </a:rPr>
                        <a:t>Chunk + aggregate</a:t>
                      </a:r>
                    </a:p>
                  </a:txBody>
                  <a:tcPr>
                    <a:solidFill>
                      <a:srgbClr val="242F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3DD6B8"/>
                          </a:solidFill>
                          <a:latin typeface="Calibri"/>
                        </a:rPr>
                        <a:t>Long-context (16,384 tokens)</a:t>
                      </a:r>
                    </a:p>
                  </a:txBody>
                  <a:tcPr>
                    <a:solidFill>
                      <a:srgbClr val="242F3E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3DD6B8"/>
                          </a:solidFill>
                          <a:latin typeface="Calibri"/>
                        </a:rPr>
                        <a:t>Prompting</a:t>
                      </a:r>
                    </a:p>
                    <a:p>
                      <a:r>
                        <a:rPr sz="1500" b="1" i="0">
                          <a:solidFill>
                            <a:srgbClr val="3DD6B8"/>
                          </a:solidFill>
                          <a:latin typeface="Calibri"/>
                        </a:rPr>
                        <a:t>(zero / few / CoT)</a:t>
                      </a:r>
                    </a:p>
                  </a:txBody>
                  <a:tcPr>
                    <a:solidFill>
                      <a:srgbClr val="242F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4F6FA"/>
                          </a:solidFill>
                          <a:latin typeface="Calibri"/>
                        </a:rPr>
                        <a:t>FLAN-T5-Large (512)</a:t>
                      </a:r>
                    </a:p>
                    <a:p>
                      <a:r>
                        <a:rPr sz="1400" b="0" i="0">
                          <a:solidFill>
                            <a:srgbClr val="F4F6FA"/>
                          </a:solidFill>
                          <a:latin typeface="Calibri"/>
                        </a:rPr>
                        <a:t>BART-Large-CNN (1,024)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4F6FA"/>
                          </a:solidFill>
                          <a:latin typeface="Calibri"/>
                        </a:rPr>
                        <a:t>LED-base-16384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  <a:tr h="883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3DD6B8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>
                    <a:solidFill>
                      <a:srgbClr val="242F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4F6FA"/>
                          </a:solidFill>
                          <a:latin typeface="Calibri"/>
                        </a:rPr>
                        <a:t>BART as the merge step</a:t>
                      </a:r>
                    </a:p>
                    <a:p>
                      <a:r>
                        <a:rPr sz="1400" b="0" i="0">
                          <a:solidFill>
                            <a:srgbClr val="F4F6FA"/>
                          </a:solidFill>
                          <a:latin typeface="Calibri"/>
                        </a:rPr>
                        <a:t>(“chunk-merger” recipe)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F4F6FA"/>
                          </a:solidFill>
                          <a:latin typeface="Calibri"/>
                        </a:rPr>
                        <a:t>LED on 8,192-token</a:t>
                      </a:r>
                    </a:p>
                    <a:p>
                      <a:r>
                        <a:rPr sz="1400" b="0" i="0">
                          <a:solidFill>
                            <a:srgbClr val="F4F6FA"/>
                          </a:solidFill>
                          <a:latin typeface="Calibri"/>
                        </a:rPr>
                        <a:t>random windows</a:t>
                      </a:r>
                    </a:p>
                  </a:txBody>
                  <a:tcPr>
                    <a:solidFill>
                      <a:srgbClr val="1A22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892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DD6B8"/>
                </a:solidFill>
                <a:latin typeface="Calibri"/>
              </a:rPr>
              <a:t>Chunk + aggregate:  </a:t>
            </a:r>
            <a:r>
              <a:rPr sz="1500" b="0" i="0">
                <a:solidFill>
                  <a:srgbClr val="F4F6FA"/>
                </a:solidFill>
                <a:latin typeface="Calibri"/>
              </a:rPr>
              <a:t>segment-aligned chunks → per-chunk summary → merge + dedup.    </a:t>
            </a:r>
            <a:r>
              <a:rPr sz="1500" b="1" i="0">
                <a:solidFill>
                  <a:srgbClr val="3DD6B8"/>
                </a:solidFill>
                <a:latin typeface="Calibri"/>
              </a:rPr>
              <a:t>Long-context:  </a:t>
            </a:r>
            <a:r>
              <a:rPr sz="1500" b="0" i="0">
                <a:solidFill>
                  <a:srgbClr val="F4F6FA"/>
                </a:solidFill>
                <a:latin typeface="Calibri"/>
              </a:rPr>
              <a:t>whole transcript in one LED pass.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F4F6FA"/>
                </a:solidFill>
                <a:latin typeface="Calibri"/>
              </a:rPr>
              <a:t>All experiments on free-tier Kaggle (1× T4); seeds fixed; every prediction saved to disk, so all metrics are recomputable post-hoc.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39FB0"/>
                </a:solidFill>
                <a:latin typeface="Calibri"/>
              </a:rPr>
              <a:t>Summarising Football Commentaries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008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DD6B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3D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DD6B8"/>
                </a:solidFill>
                <a:latin typeface="Calibri"/>
              </a:rPr>
              <a:t>RESULTS</a:t>
            </a:r>
            <a:r>
              <a:t>  </a:t>
            </a:r>
            <a:r>
              <a:rPr sz="1200" b="1" i="0">
                <a:solidFill>
                  <a:srgbClr val="939FB0"/>
                </a:solidFill>
                <a:latin typeface="Calibri"/>
              </a:rPr>
              <a:t>· 05</a:t>
            </a:r>
          </a:p>
          <a:p>
            <a:r>
              <a:rPr sz="2600" b="1" i="0">
                <a:solidFill>
                  <a:srgbClr val="F4F6FA"/>
                </a:solidFill>
                <a:latin typeface="Georgia"/>
              </a:rPr>
              <a:t>Fine-tuning wins, and the gap is significant</a:t>
            </a:r>
          </a:p>
          <a:p>
            <a:r>
              <a:rPr sz="1300" b="0" i="0">
                <a:solidFill>
                  <a:srgbClr val="939FB0"/>
                </a:solidFill>
                <a:latin typeface="Calibri"/>
              </a:rPr>
              <a:t>Test ROUGE-L on the clean 9-match test set · bootstrap 95% CIs (10,000 resamples)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783080"/>
            <a:ext cx="7242048" cy="4060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929384"/>
            <a:ext cx="6949440" cy="37677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989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1">
                <a:solidFill>
                  <a:srgbClr val="939FB0"/>
                </a:solidFill>
                <a:latin typeface="Calibri"/>
              </a:rPr>
              <a:t>Every prompting condition is significantly below both fine-tuned models (paired bootstrap; 95% CI of the difference excludes 0). The LED−BART gap (−0.0004 [−0.042, +0.035]) is NOT significant.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39FB0"/>
                </a:solidFill>
                <a:latin typeface="Calibri"/>
              </a:rPr>
              <a:t>Summarising Football Commentaries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008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DD6B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3D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DD6B8"/>
                </a:solidFill>
                <a:latin typeface="Calibri"/>
              </a:rPr>
              <a:t>FINDING 1</a:t>
            </a:r>
            <a:r>
              <a:t>  </a:t>
            </a:r>
            <a:r>
              <a:rPr sz="1200" b="1" i="0">
                <a:solidFill>
                  <a:srgbClr val="939FB0"/>
                </a:solidFill>
                <a:latin typeface="Calibri"/>
              </a:rPr>
              <a:t>· 06</a:t>
            </a:r>
          </a:p>
          <a:p>
            <a:r>
              <a:rPr sz="2600" b="1" i="0">
                <a:solidFill>
                  <a:srgbClr val="F4F6FA"/>
                </a:solidFill>
                <a:latin typeface="Georgia"/>
              </a:rPr>
              <a:t>Match the training distribution, not the context window</a:t>
            </a:r>
          </a:p>
          <a:p>
            <a:r>
              <a:rPr sz="1300" b="0" i="0">
                <a:solidFill>
                  <a:srgbClr val="939FB0"/>
                </a:solidFill>
                <a:latin typeface="Calibri"/>
              </a:rPr>
              <a:t>The “chunk-merger” fine-tuning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800" b="1" i="0">
                <a:solidFill>
                  <a:srgbClr val="F4F6FA"/>
                </a:solidFill>
                <a:latin typeface="Calibri"/>
              </a:rPr>
              <a:t>Naive fine-tuning </a:t>
            </a:r>
            <a:r>
              <a:rPr sz="1800" b="0" i="0">
                <a:solidFill>
                  <a:srgbClr val="F4F6FA"/>
                </a:solidFill>
                <a:latin typeface="Calibri"/>
              </a:rPr>
              <a:t>on (transcript[:1024] → reference) shows BART only the first ~5 minutes of a 2.5-hour match.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800" b="1" i="0">
                <a:solidFill>
                  <a:srgbClr val="3DD6B8"/>
                </a:solidFill>
                <a:latin typeface="Calibri"/>
              </a:rPr>
              <a:t>Chunk-merger recipe:  </a:t>
            </a:r>
            <a:r>
              <a:rPr sz="1800" b="0" i="0">
                <a:solidFill>
                  <a:srgbClr val="F4F6FA"/>
                </a:solidFill>
                <a:latin typeface="Calibri"/>
              </a:rPr>
              <a:t>run pre-trained BART on every chunk → concatenate the ~30 mini-summaries (~960 tokens) → fine-tune BART to map that intermediate to the reference report. Training input now matches what the model sees at inference.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800" b="1" i="0">
                <a:solidFill>
                  <a:srgbClr val="F4F6FA"/>
                </a:solidFill>
                <a:latin typeface="Calibri"/>
              </a:rPr>
              <a:t>Two-phase schedule: </a:t>
            </a:r>
            <a:r>
              <a:rPr sz="1800" b="0" i="0">
                <a:solidFill>
                  <a:srgbClr val="F4F6FA"/>
                </a:solidFill>
                <a:latin typeface="Calibri"/>
              </a:rPr>
              <a:t>encoder frozen 3 epochs, then unfrozen; early stopping on val ROUGE-L.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4F6FA"/>
                </a:solidFill>
                <a:latin typeface="Calibri"/>
              </a:rPr>
              <a:t/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800" b="1" i="0">
                <a:solidFill>
                  <a:srgbClr val="F3C059"/>
                </a:solidFill>
                <a:latin typeface="Calibri"/>
              </a:rPr>
              <a:t>Same model, same pipeline, same test set</a:t>
            </a:r>
          </a:p>
          <a:p>
            <a:pPr lvl="1">
              <a:spcAft>
                <a:spcPts val="900"/>
              </a:spcAft>
            </a:pPr>
            <a:r>
              <a:rPr sz="2300" b="1" i="0">
                <a:solidFill>
                  <a:srgbClr val="3DD6B8"/>
                </a:solidFill>
                <a:latin typeface="Calibri"/>
              </a:rPr>
              <a:t>pre-trained BART 0.147   →   fine-tuned BART 0.248   ( +69% relative )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F4F6FA"/>
                </a:solidFill>
                <a:latin typeface="Calibri"/>
              </a:rPr>
              <a:t>+55% over the strongest prompting condition of any architecture (LED zero-shot, 0.160).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39FB0"/>
                </a:solidFill>
                <a:latin typeface="Calibri"/>
              </a:rPr>
              <a:t>Summarising Football Commentaries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DD6B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3D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DD6B8"/>
                </a:solidFill>
                <a:latin typeface="Calibri"/>
              </a:rPr>
              <a:t>FINDING 2</a:t>
            </a:r>
            <a:r>
              <a:t>  </a:t>
            </a:r>
            <a:r>
              <a:rPr sz="1200" b="1" i="0">
                <a:solidFill>
                  <a:srgbClr val="939FB0"/>
                </a:solidFill>
                <a:latin typeface="Calibri"/>
              </a:rPr>
              <a:t>· 07</a:t>
            </a:r>
          </a:p>
          <a:p>
            <a:r>
              <a:rPr sz="2600" b="1" i="0">
                <a:solidFill>
                  <a:srgbClr val="F4F6FA"/>
                </a:solidFill>
                <a:latin typeface="Georgia"/>
              </a:rPr>
              <a:t>Long context wins at prompting, ties at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DD6B8"/>
                </a:solidFill>
                <a:latin typeface="Calibri"/>
              </a:rPr>
              <a:t>Prompting:  </a:t>
            </a:r>
            <a:r>
              <a:rPr sz="1700" b="0" i="0">
                <a:solidFill>
                  <a:srgbClr val="F4F6FA"/>
                </a:solidFill>
                <a:latin typeface="Calibri"/>
              </a:rPr>
              <a:t>LED long-context (avg 0.158) beats BART chunk (0.124) and FLAN chunk (0.058) — the 16k window preserves cross-segment information that chunking discards.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DD6B8"/>
                </a:solidFill>
                <a:latin typeface="Calibri"/>
              </a:rPr>
              <a:t>Fine-tuning:  </a:t>
            </a:r>
            <a:r>
              <a:rPr sz="1700" b="0" i="0">
                <a:solidFill>
                  <a:srgbClr val="F4F6FA"/>
                </a:solidFill>
                <a:latin typeface="Calibri"/>
              </a:rPr>
              <a:t>LED long-context is nominally ahead (0.248 vs 0.248) but the paired difference is not significant at n = 9 — the two fine-tuned pipelines cannot be separated. LED is more consistent (CI [0.230, 0.266]); BART has more variance (CI [0.208, 0.283]).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F4F6FA"/>
                </a:solidFill>
                <a:latin typeface="Calibri"/>
              </a:rPr>
              <a:t/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F3C059"/>
                </a:solidFill>
                <a:latin typeface="Calibri"/>
              </a:rPr>
              <a:t>Why the two pipelines are statistically tied despite architectural differences: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F4F6FA"/>
                </a:solidFill>
                <a:latin typeface="Calibri"/>
              </a:rPr>
              <a:t>BART learns from a ~960-token pre-distilled intermediate whose features are already informative.</a:t>
            </a:r>
          </a:p>
          <a:p>
            <a:pPr lvl="1">
              <a:spcAft>
                <a:spcPts val="900"/>
              </a:spcAft>
            </a:pPr>
            <a:r>
              <a:rPr sz="1500" b="0" i="0">
                <a:solidFill>
                  <a:srgbClr val="F4F6FA"/>
                </a:solidFill>
                <a:latin typeface="Calibri"/>
              </a:rPr>
              <a:t>LED must learn what matters inside raw 8,192-token windows from scratch — too few pairs (N = 80) to learn long-range attention patterns reliably.</a:t>
            </a:r>
          </a:p>
          <a:p>
            <a:pPr>
              <a:spcAft>
                <a:spcPts val="900"/>
              </a:spcAft>
            </a:pPr>
            <a:r>
              <a:rPr sz="1700" b="0" i="0">
                <a:solidFill>
                  <a:srgbClr val="F4F6FA"/>
                </a:solidFill>
                <a:latin typeface="Calibri"/>
              </a:rPr>
              <a:t/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700" b="1" i="0">
                <a:solidFill>
                  <a:srgbClr val="F4F6FA"/>
                </a:solidFill>
                <a:latin typeface="Calibri"/>
              </a:rPr>
              <a:t>Secondary finding: </a:t>
            </a:r>
            <a:r>
              <a:rPr sz="1700" b="0" i="0">
                <a:solidFill>
                  <a:srgbClr val="F4F6FA"/>
                </a:solidFill>
                <a:latin typeface="Calibri"/>
              </a:rPr>
              <a:t>zero-shot beats few-shot and CoT in both chunked families — examples eat the input budget; LED few-shot fell back to zero-shot (implementation gap, disclosed in the report), and LED-base is not instruction-tuned, so prompt style barely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39FB0"/>
                </a:solidFill>
                <a:latin typeface="Calibri"/>
              </a:rPr>
              <a:t>Summarising Football Commentaries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DD6B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3D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DD6B8"/>
                </a:solidFill>
                <a:latin typeface="Calibri"/>
              </a:rPr>
              <a:t>FINDING 3</a:t>
            </a:r>
            <a:r>
              <a:t>  </a:t>
            </a:r>
            <a:r>
              <a:rPr sz="1200" b="1" i="0">
                <a:solidFill>
                  <a:srgbClr val="939FB0"/>
                </a:solidFill>
                <a:latin typeface="Calibri"/>
              </a:rPr>
              <a:t>· 08</a:t>
            </a:r>
          </a:p>
          <a:p>
            <a:r>
              <a:rPr sz="2600" b="1" i="0">
                <a:solidFill>
                  <a:srgbClr val="F4F6FA"/>
                </a:solidFill>
                <a:latin typeface="Georgia"/>
              </a:rPr>
              <a:t>Models learn the format, not the facts</a:t>
            </a:r>
          </a:p>
          <a:p>
            <a:r>
              <a:rPr sz="1300" b="0" i="0">
                <a:solidFill>
                  <a:srgbClr val="939FB0"/>
                </a:solidFill>
                <a:latin typeface="Calibri"/>
              </a:rPr>
              <a:t>Real test-set outputs; each quote labelled with the true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5257800" cy="205740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24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09728"/>
          <a:lstStyle/>
          <a:p>
            <a:pPr algn="ctr"/>
            <a:r>
              <a:rPr sz="1200" b="1" i="0">
                <a:solidFill>
                  <a:srgbClr val="F27A6E"/>
                </a:solidFill>
                <a:latin typeface="Calibri"/>
              </a:rPr>
              <a:t>Fine-tuned BART (best model) — 2019 UCL Final (true: Liverpool 2–0 Tottenham, Madrid, no shootout)</a:t>
            </a:r>
          </a:p>
          <a:p>
            <a:r>
              <a:rPr sz="1300" b="0" i="1">
                <a:solidFill>
                  <a:srgbClr val="F4F6FA"/>
                </a:solidFill>
                <a:latin typeface="Calibri"/>
              </a:rPr>
              <a:t>“Liverpool 2–2 Tottenham Hotspur (Liverpool win 4–3 on penalties) … 2023 UEFA Champions League Final, Wembley Stadium, London – 31 May 2019 … Liverpool secured a dramatic victory…”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75688"/>
            <a:ext cx="54864" cy="1837944"/>
          </a:xfrm>
          <a:prstGeom prst="rect">
            <a:avLst/>
          </a:prstGeom>
          <a:solidFill>
            <a:srgbClr val="F2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55080" y="1965960"/>
            <a:ext cx="5029200" cy="205740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24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64592" tIns="109728"/>
          <a:lstStyle/>
          <a:p>
            <a:pPr algn="ctr"/>
            <a:r>
              <a:rPr sz="1200" b="1" i="0">
                <a:solidFill>
                  <a:srgbClr val="F27A6E"/>
                </a:solidFill>
                <a:latin typeface="Calibri"/>
              </a:rPr>
              <a:t>Fine-tuned LED — 2001 FA Cup Final (true: Liverpool 2–1 Arsenal, Millennium Stadium)</a:t>
            </a:r>
          </a:p>
          <a:p>
            <a:r>
              <a:rPr sz="1300" b="0" i="1">
                <a:solidFill>
                  <a:srgbClr val="F4F6FA"/>
                </a:solidFill>
                <a:latin typeface="Calibri"/>
              </a:rPr>
              <a:t>“Liverpool 1–0 Arsenal, Premier League, 20 May 2001 — Anfield, Anfield, Emirates Stadium, Anfield… Liverpool dominated the first half…”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2075688"/>
            <a:ext cx="54864" cy="1837944"/>
          </a:xfrm>
          <a:prstGeom prst="rect">
            <a:avLst/>
          </a:prstGeom>
          <a:solidFill>
            <a:srgbClr val="F2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500" b="1" i="0">
                <a:solidFill>
                  <a:srgbClr val="F27A6E"/>
                </a:solidFill>
                <a:latin typeface="Calibri"/>
              </a:rPr>
              <a:t>Quantified over all 9 test matches:  </a:t>
            </a:r>
            <a:r>
              <a:rPr sz="1500" b="0" i="0">
                <a:solidFill>
                  <a:srgbClr val="F4F6FA"/>
                </a:solidFill>
                <a:latin typeface="Calibri"/>
              </a:rPr>
              <a:t>fine-tuned BART (ROUGE rank 2) states the correct final score in </a:t>
            </a:r>
            <a:r>
              <a:rPr sz="1500" b="1" i="0">
                <a:solidFill>
                  <a:srgbClr val="F27A6E"/>
                </a:solidFill>
                <a:latin typeface="Calibri"/>
              </a:rPr>
              <a:t>0 of 9 matches</a:t>
            </a:r>
            <a:r>
              <a:rPr sz="1500" b="0" i="0">
                <a:solidFill>
                  <a:srgbClr val="F4F6FA"/>
                </a:solidFill>
                <a:latin typeface="Calibri"/>
              </a:rPr>
              <a:t> and recalls only 30% of reference scorers. Fine-tuned LED (ROUGE rank 1): 2/9 scores, 13% scorers. BART scorelines are decorative — 1–1, 2–2, 1–0 regardless of the real 0–4, 3–0…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500" b="1" i="0">
                <a:solidFill>
                  <a:srgbClr val="F4F6FA"/>
                </a:solidFill>
                <a:latin typeface="Calibri"/>
              </a:rPr>
              <a:t>ROUGE rewards the hallucination: </a:t>
            </a:r>
            <a:r>
              <a:rPr sz="1500" b="0" i="0">
                <a:solidFill>
                  <a:srgbClr val="F4F6FA"/>
                </a:solidFill>
                <a:latin typeface="Calibri"/>
              </a:rPr>
              <a:t>the overlapping n-grams (team names, date formats, report style) are exactly what the models reproduce; wrong facts cost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39FB0"/>
                </a:solidFill>
                <a:latin typeface="Calibri"/>
              </a:rPr>
              <a:t>Summarising Football Commentaries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008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DD6B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3D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DD6B8"/>
                </a:solidFill>
                <a:latin typeface="Calibri"/>
              </a:rPr>
              <a:t>FINDING 4</a:t>
            </a:r>
            <a:r>
              <a:t>  </a:t>
            </a:r>
            <a:r>
              <a:rPr sz="1200" b="1" i="0">
                <a:solidFill>
                  <a:srgbClr val="939FB0"/>
                </a:solidFill>
                <a:latin typeface="Calibri"/>
              </a:rPr>
              <a:t>· 09</a:t>
            </a:r>
          </a:p>
          <a:p>
            <a:r>
              <a:rPr sz="2600" b="1" i="0">
                <a:solidFill>
                  <a:srgbClr val="F4F6FA"/>
                </a:solidFill>
                <a:latin typeface="Georgia"/>
              </a:rPr>
              <a:t>Models optimise the reference, not the source</a:t>
            </a:r>
          </a:p>
          <a:p>
            <a:r>
              <a:rPr sz="1300" b="0" i="0">
                <a:solidFill>
                  <a:srgbClr val="939FB0"/>
                </a:solidFill>
                <a:latin typeface="Calibri"/>
              </a:rPr>
              <a:t>BERTScore vs reference · NLI entailment vs transcript (DeBERTa-MNLI, TF-IDF-retrieved windows)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74519"/>
            <a:ext cx="8522208" cy="31132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2020823"/>
            <a:ext cx="8229600" cy="28206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5074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27A6E"/>
                </a:solidFill>
                <a:latin typeface="Calibri"/>
              </a:rPr>
              <a:t>The rankings invert:  </a:t>
            </a:r>
            <a:r>
              <a:rPr sz="1400" b="0" i="0">
                <a:solidFill>
                  <a:srgbClr val="F4F6FA"/>
                </a:solidFill>
                <a:latin typeface="Calibri"/>
              </a:rPr>
              <a:t>fine-tuned LED leads on ROUGE-L and BERTScore yet has only 2% NLI support; fine-tuned BART — zero NLI-supported sentences — is even more extreme. Prompted long-context LED, outranked on every reference metric, is the best-grounded condition (34%) because it copies the commentary.</a:t>
            </a:r>
          </a:p>
          <a:p>
            <a:pPr>
              <a:spcAft>
                <a:spcPts val="900"/>
              </a:spcAft>
            </a:pPr>
            <a:r>
              <a:rPr sz="12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400" b="1" i="0">
                <a:solidFill>
                  <a:srgbClr val="F4F6FA"/>
                </a:solidFill>
                <a:latin typeface="Calibri"/>
              </a:rPr>
              <a:t>Fine-tuning on GPT-4 references optimises agreement with the references at the expense of grounding in the input. </a:t>
            </a:r>
            <a:r>
              <a:rPr sz="1300" b="0" i="0">
                <a:solidFill>
                  <a:srgbClr val="939FB0"/>
                </a:solidFill>
                <a:latin typeface="Calibri"/>
              </a:rPr>
              <a:t>(NLI rates are conservative lower bounds — register gap, ASR noise — so compare across conditions, not absolutely.)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39FB0"/>
                </a:solidFill>
                <a:latin typeface="Calibri"/>
              </a:rPr>
              <a:t>Summarising Football Commentaries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008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DD6B8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3D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DD6B8"/>
                </a:solidFill>
                <a:latin typeface="Calibri"/>
              </a:rPr>
              <a:t>ENGINEERING</a:t>
            </a:r>
            <a:r>
              <a:t>  </a:t>
            </a:r>
            <a:r>
              <a:rPr sz="1200" b="1" i="0">
                <a:solidFill>
                  <a:srgbClr val="939FB0"/>
                </a:solidFill>
                <a:latin typeface="Calibri"/>
              </a:rPr>
              <a:t>· 10</a:t>
            </a:r>
          </a:p>
          <a:p>
            <a:r>
              <a:rPr sz="2600" b="1" i="0">
                <a:solidFill>
                  <a:srgbClr val="F4F6FA"/>
                </a:solidFill>
                <a:latin typeface="Georgia"/>
              </a:rPr>
              <a:t>The biggest improvement was not a model change</a:t>
            </a:r>
          </a:p>
          <a:p>
            <a:r>
              <a:rPr sz="1300" b="0" i="0">
                <a:solidFill>
                  <a:srgbClr val="939FB0"/>
                </a:solidFill>
                <a:latin typeface="Calibri"/>
              </a:rPr>
              <a:t>Five silent LED training failures + one dataset bug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500" b="1" i="0">
                <a:solidFill>
                  <a:srgbClr val="F27A6E"/>
                </a:solidFill>
                <a:latin typeface="Calibri"/>
              </a:rPr>
              <a:t>33% of training references were 0-byte files </a:t>
            </a:r>
            <a:r>
              <a:rPr sz="1500" b="0" i="0">
                <a:solidFill>
                  <a:srgbClr val="F4F6FA"/>
                </a:solidFill>
                <a:latin typeface="Calibri"/>
              </a:rPr>
              <a:t>(and 44% of test references) — silently teaching models to emit empty strings and deflating every score ~1.8×.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500" b="0" i="0">
                <a:solidFill>
                  <a:srgbClr val="F4F6FA"/>
                </a:solidFill>
                <a:latin typeface="Calibri"/>
              </a:rPr>
              <a:t>Predicted correction ratio matched the measured one almost exactly (e.g. fine-tuned BART 0.136 → 0.248 after the fix).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500" b="1" i="0">
                <a:solidFill>
                  <a:srgbClr val="F4F6FA"/>
                </a:solidFill>
                <a:latin typeface="Calibri"/>
              </a:rPr>
              <a:t>LED also needed 5 bug fixes </a:t>
            </a:r>
            <a:r>
              <a:rPr sz="1500" b="0" i="0">
                <a:solidFill>
                  <a:srgbClr val="F4F6FA"/>
                </a:solidFill>
                <a:latin typeface="Calibri"/>
              </a:rPr>
              <a:t>(defeated random-window sampler, collapse-to-EOS, decoder sentinel overflow, lost checkpoint, CLI truncation).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DD6B8"/>
                </a:solidFill>
                <a:latin typeface="Calibri"/>
              </a:rPr>
              <a:t>After the fixes: a clean, monotone training curve → the earlier collapses were data and code defects, not modelling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148840"/>
            <a:ext cx="5001768" cy="297047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ed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304" y="2295144"/>
            <a:ext cx="4709160" cy="26778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5623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1">
                <a:solidFill>
                  <a:srgbClr val="939FB0"/>
                </a:solidFill>
                <a:latin typeface="Calibri"/>
              </a:rPr>
              <a:t>LED fine-tuning after the fixes: val ROUGE-L peaks at 0.172 (epoch 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39FB0"/>
                </a:solidFill>
                <a:latin typeface="Calibri"/>
              </a:rPr>
              <a:t>Summarising Football Commentaries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008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DD6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3DD6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DD6B8"/>
                </a:solidFill>
                <a:latin typeface="Calibri"/>
              </a:rPr>
              <a:t>CONCLUSIONS</a:t>
            </a:r>
            <a:r>
              <a:t>  </a:t>
            </a:r>
            <a:r>
              <a:rPr sz="1200" b="1" i="0">
                <a:solidFill>
                  <a:srgbClr val="939FB0"/>
                </a:solidFill>
                <a:latin typeface="Calibri"/>
              </a:rPr>
              <a:t>· 11</a:t>
            </a:r>
          </a:p>
          <a:p>
            <a:r>
              <a:rPr sz="2600" b="1" i="0">
                <a:solidFill>
                  <a:srgbClr val="F4F6FA"/>
                </a:solidFill>
                <a:latin typeface="Georgia"/>
              </a:rPr>
              <a:t>What we learned, and where it breaks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600" b="1" i="0">
                <a:solidFill>
                  <a:srgbClr val="F4F6FA"/>
                </a:solidFill>
                <a:latin typeface="Calibri"/>
              </a:rPr>
              <a:t>1.  Fine-tuning a distribution-matched chunk pipeline is the best recipe at small N </a:t>
            </a:r>
            <a:r>
              <a:rPr sz="1600" b="0" i="0">
                <a:solidFill>
                  <a:srgbClr val="F4F6FA"/>
                </a:solidFill>
                <a:latin typeface="Calibri"/>
              </a:rPr>
              <a:t>— +69% over the same pre-trained model, +55% over the best prompting baseline.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600" b="1" i="0">
                <a:solidFill>
                  <a:srgbClr val="F4F6FA"/>
                </a:solidFill>
                <a:latin typeface="Calibri"/>
              </a:rPr>
              <a:t>2.  Context length is not a substitute for supervision </a:t>
            </a:r>
            <a:r>
              <a:rPr sz="1600" b="0" i="0">
                <a:solidFill>
                  <a:srgbClr val="F4F6FA"/>
                </a:solidFill>
                <a:latin typeface="Calibri"/>
              </a:rPr>
              <a:t>— long-context wins only when no fine-tuning is possible.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600" b="1" i="0">
                <a:solidFill>
                  <a:srgbClr val="F4F6FA"/>
                </a:solidFill>
                <a:latin typeface="Calibri"/>
              </a:rPr>
              <a:t>3.  Reference similarity and source grounding fully decouple </a:t>
            </a:r>
            <a:r>
              <a:rPr sz="1600" b="0" i="0">
                <a:solidFill>
                  <a:srgbClr val="F4F6FA"/>
                </a:solidFill>
                <a:latin typeface="Calibri"/>
              </a:rPr>
              <a:t>— fine-tuned LED tops ROUGE-L and BERTScore yet achieves 2/9 correct scores and 2% NLI; BART goes further at 0/9 and 0% NLI. The transcript-copying prompted LED both outrank on ROUGE remains the best-grounded (34%). Optimising faithfulness, not just measuring it, is the next step.</a:t>
            </a:r>
          </a:p>
          <a:p>
            <a:pPr>
              <a:spcAft>
                <a:spcPts val="900"/>
              </a:spcAft>
            </a:pPr>
            <a:r>
              <a:rPr sz="1600" b="0" i="0">
                <a:solidFill>
                  <a:srgbClr val="F4F6FA"/>
                </a:solidFill>
                <a:latin typeface="Calibri"/>
              </a:rPr>
              <a:t/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3DD6B8"/>
                </a:solidFill>
                <a:latin typeface="Calibri"/>
              </a:rPr>
              <a:t>▸ </a:t>
            </a:r>
            <a:r>
              <a:rPr sz="1600" b="1" i="0">
                <a:solidFill>
                  <a:srgbClr val="F27A6E"/>
                </a:solidFill>
                <a:latin typeface="Calibri"/>
              </a:rPr>
              <a:t>Limitations we state openly</a:t>
            </a:r>
          </a:p>
          <a:p>
            <a:pPr lvl="1">
              <a:spcAft>
                <a:spcPts val="900"/>
              </a:spcAft>
            </a:pPr>
            <a:r>
              <a:rPr sz="1400" b="0" i="0">
                <a:solidFill>
                  <a:srgbClr val="F4F6FA"/>
                </a:solidFill>
                <a:latin typeface="Calibri"/>
              </a:rPr>
              <a:t>Search-grounded GPT-4 references → facts anchored in web reports, but still ungrounded in the transcript, stylistically homogeneous, and not exactly reproducible (search results drift).</a:t>
            </a:r>
          </a:p>
          <a:p>
            <a:pPr lvl="1">
              <a:spcAft>
                <a:spcPts val="900"/>
              </a:spcAft>
            </a:pPr>
            <a:r>
              <a:rPr sz="1400" b="0" i="0">
                <a:solidFill>
                  <a:srgbClr val="F4F6FA"/>
                </a:solidFill>
                <a:latin typeface="Calibri"/>
              </a:rPr>
              <a:t>n = 9 test matches → bootstrap CIs resolve fine-tuning vs prompting (significant) but not LED vs BART (−0.0004 [−0.042, +0.035]).</a:t>
            </a:r>
          </a:p>
          <a:p>
            <a:pPr lvl="1">
              <a:spcAft>
                <a:spcPts val="900"/>
              </a:spcAft>
            </a:pPr>
            <a:r>
              <a:rPr sz="1400" b="0" i="0">
                <a:solidFill>
                  <a:srgbClr val="F4F6FA"/>
                </a:solidFill>
                <a:latin typeface="Calibri"/>
              </a:rPr>
              <a:t>N = 80 training pairs → both fine-tuned models overfit (val 0.31 → test 0.25 for BART).</a:t>
            </a:r>
          </a:p>
          <a:p>
            <a:pPr lvl="1">
              <a:spcAft>
                <a:spcPts val="900"/>
              </a:spcAft>
            </a:pPr>
            <a:r>
              <a:rPr sz="1400" b="0" i="0">
                <a:solidFill>
                  <a:srgbClr val="F4F6FA"/>
                </a:solidFill>
                <a:latin typeface="Calibri"/>
              </a:rPr>
              <a:t>NLI support rates are conservative lower bounds (ASR-noisy premises, register gap); entity precision is still unmeasured over all entity types.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39FB0"/>
                </a:solidFill>
                <a:latin typeface="Calibri"/>
              </a:rPr>
              <a:t>Summarising Football Commentaries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DD6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
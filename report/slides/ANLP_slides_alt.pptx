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DD6B8"/>
                </a:solidFill>
                <a:latin typeface="Calibri"/>
              </a:rPr>
              <a:t>APPLIED NATURAL LANGUAGE PROCESSING  ·  UNIVERSITY OF TRENTO  · 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4F6FA"/>
                </a:solidFill>
                <a:latin typeface="Georgia"/>
              </a:rPr>
              <a:t>Summarising Football Match Commentaries</a:t>
            </a:r>
          </a:p>
          <a:p>
            <a:r>
              <a:rPr sz="2000" b="0" i="0">
                <a:solidFill>
                  <a:srgbClr val="939FB0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709160"/>
            <a:ext cx="3840480" cy="32004"/>
          </a:xfrm>
          <a:prstGeom prst="rect">
            <a:avLst/>
          </a:prstGeom>
          <a:solidFill>
            <a:srgbClr val="24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4F6FA"/>
                </a:solidFill>
                <a:latin typeface="Calibri"/>
              </a:rPr>
              <a:t>Marco Panciera   ·   Christian Dalfarra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THE TASK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02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2.5 hours of radio → a 200-word match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Input: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Whisper transcript of live BBC Radio 5 commentary — mean ~25,000 words, noisy, fragmented, full of irrelevant detail.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Output: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a structured match report (~200 words): score line, key events, short tactical note.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Why it is hard: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3C059"/>
                </a:solidFill>
                <a:latin typeface="Calibri"/>
              </a:rPr>
              <a:t>Two empirically answerable questions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DATASET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03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99 matches, 43 years, 12 competition categories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Audio: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Transcription: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References: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~190 words. A pragmatic, disclosed compromise — no human summaries exist for radio commentary.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Split: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F27A6E"/>
                </a:solidFill>
                <a:latin typeface="Calibri"/>
              </a:rPr>
              <a:t>Known noise floor: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DESIGN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04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2 input pipelines × 2 learning paradigms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0703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977639"/>
                <a:gridCol w="3977639"/>
              </a:tblGrid>
              <a:tr h="883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892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3DD6B8"/>
                </a:solidFill>
                <a:latin typeface="Calibri"/>
              </a:rPr>
              <a:t>Chunk + aggregate: 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segment-aligned chunks → per-chunk summary → merge + dedup.    </a:t>
            </a:r>
            <a:r>
              <a:rPr sz="1500" b="1" i="0">
                <a:solidFill>
                  <a:srgbClr val="3DD6B8"/>
                </a:solidFill>
                <a:latin typeface="Calibri"/>
              </a:rPr>
              <a:t>Long-context: 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whole transcript in one LED pass.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All experiments on free-tier Kaggle (1× T4); seeds fixed; every prediction saved to disk, so all metrics are recomputable post-hoc.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RESULTS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05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Fine-tuning wins, and the gap is significant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Test ROUGE-L on the clean 9-match test set · bootstrap 95% CIs (10,000 resamples)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1783080"/>
            <a:ext cx="7242048" cy="40603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184" y="1929384"/>
            <a:ext cx="6949440" cy="37677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9893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1">
                <a:solidFill>
                  <a:srgbClr val="939FB0"/>
                </a:solidFill>
                <a:latin typeface="Calibri"/>
              </a:rPr>
              <a:t>Every prompting condition is significantly below fine-tuned BART (paired bootstrap; 95% CI of the difference excludes 0). The BART−LED gap (+0.029 [−0.014, +0.070]) is NOT significant.  * LED trained before the dataset fix; re-scored post-hoc on the same clean 9-match protocol.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1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06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Match the training distribution, not the context window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4F6FA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on (transcript[:1024] → reference) shows BART only the first ~5 minutes of a 2.5-hour match.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Chunk-merger recipe: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run pre-trained BART on every chunk → concatenate the ~30 mini-summaries (~960 tokens) → fine-tune BART to map that intermediate to the reference report. Training input now matches what the model sees at inference.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4F6FA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3C059"/>
                </a:solidFill>
                <a:latin typeface="Calibri"/>
              </a:rPr>
              <a:t>Same model, same pipeline, same test set</a:t>
            </a:r>
          </a:p>
          <a:p>
            <a:pPr lvl="1">
              <a:spcAft>
                <a:spcPts val="900"/>
              </a:spcAft>
            </a:pPr>
            <a:r>
              <a:rPr sz="2300" b="1" i="0">
                <a:solidFill>
                  <a:srgbClr val="3DD6B8"/>
                </a:solidFill>
                <a:latin typeface="Calibri"/>
              </a:rPr>
              <a:t>pre-trained BART 0.147   →   fine-tuned BART 0.248   ( +69% relative )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>+55% over the strongest prompting condition of any architecture (LED zero-shot, 0.160).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2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07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Long context wins at prompting, ties at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Prompting: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Fine-tuning: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BART chunk-merger is nominally ahead (0.248 vs 0.219) but the paired difference is not significant at n = 9 — the two fine-tuned pipelines cannot be separated. LED is more consistent (narrow CI); BART has the higher ceiling (wide CI).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F3C059"/>
                </a:solidFill>
                <a:latin typeface="Calibri"/>
              </a:rPr>
              <a:t>Why chunk-merger might really be ahead: sample efficiency at N = 80.</a:t>
            </a:r>
          </a:p>
          <a:p>
            <a:pPr lvl="1">
              <a:spcAft>
                <a:spcPts val="900"/>
              </a:spcAft>
            </a:pPr>
            <a:r>
              <a:rPr sz="1500" b="0" i="0">
                <a:solidFill>
                  <a:srgbClr val="F4F6FA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900"/>
              </a:spcAft>
            </a:pPr>
            <a:r>
              <a:rPr sz="1500" b="0" i="0">
                <a:solidFill>
                  <a:srgbClr val="F4F6FA"/>
                </a:solidFill>
                <a:latin typeface="Calibri"/>
              </a:rPr>
              <a:t>LED must learn what matters inside raw 8,192-token windows from scratch — too few pairs to learn long-range attention patterns.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F4F6FA"/>
                </a:solidFill>
                <a:latin typeface="Calibri"/>
              </a:rPr>
              <a:t>Secondary finding: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zero-shot beats few-shot and CoT in both chunked families — examples eat the input budget; LED few-shot fell back to zero-shot (implementation gap, disclosed in the report), and LED-base is not instruction-tuned, so prompt style barely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3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08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Models learn the format, not the facts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Real test-set outputs; each quote labelled with the true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257800" cy="2057400"/>
          </a:xfrm>
          <a:prstGeom prst="roundRect">
            <a:avLst/>
          </a:prstGeom>
          <a:solidFill>
            <a:srgbClr val="1A222E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109728"/>
          <a:lstStyle/>
          <a:p>
            <a:pPr algn="ctr"/>
            <a:r>
              <a:rPr sz="1200" b="1" i="0">
                <a:solidFill>
                  <a:srgbClr val="F27A6E"/>
                </a:solidFill>
                <a:latin typeface="Calibri"/>
              </a:rPr>
              <a:t>Fine-tuned BART (best model) — 2019 UCL Final (true: Liverpool 2–0 Tottenham, Madrid, no shootout)</a:t>
            </a:r>
          </a:p>
          <a:p>
            <a:r>
              <a:rPr sz="1300" b="0" i="1">
                <a:solidFill>
                  <a:srgbClr val="F4F6FA"/>
                </a:solidFill>
                <a:latin typeface="Calibri"/>
              </a:rPr>
              <a:t>“Liverpool 2–2 Tottenham Hotspur (Liverpool win 4–3 on penalties) … 2023 UEFA Champions League Final, Wembley Stadium, London – 31 May 2019 … Liverpool secured a dramatic victory…”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75688"/>
            <a:ext cx="54864" cy="1837944"/>
          </a:xfrm>
          <a:prstGeom prst="rect">
            <a:avLst/>
          </a:prstGeom>
          <a:solidFill>
            <a:srgbClr val="F2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1965960"/>
            <a:ext cx="5029200" cy="2057400"/>
          </a:xfrm>
          <a:prstGeom prst="roundRect">
            <a:avLst/>
          </a:prstGeom>
          <a:solidFill>
            <a:srgbClr val="1A222E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109728"/>
          <a:lstStyle/>
          <a:p>
            <a:pPr algn="ctr"/>
            <a:r>
              <a:rPr sz="1200" b="1" i="0">
                <a:solidFill>
                  <a:srgbClr val="F27A6E"/>
                </a:solidFill>
                <a:latin typeface="Calibri"/>
              </a:rPr>
              <a:t>Fine-tuned LED — 2001 FA Cup Final (true: Liverpool 2–1 Arsenal, Millennium Stadium)</a:t>
            </a:r>
          </a:p>
          <a:p>
            <a:r>
              <a:rPr sz="1300" b="0" i="1">
                <a:solidFill>
                  <a:srgbClr val="F4F6FA"/>
                </a:solidFill>
                <a:latin typeface="Calibri"/>
              </a:rPr>
              <a:t>“Liverpool 1–0 Arsenal, Premier League, 20 May 2001 — Anfield, Anfield, Emirates Stadium, Anfield… Liverpool dominated the first half…”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075688"/>
            <a:ext cx="54864" cy="1837944"/>
          </a:xfrm>
          <a:prstGeom prst="rect">
            <a:avLst/>
          </a:prstGeom>
          <a:solidFill>
            <a:srgbClr val="F2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97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27A6E"/>
                </a:solidFill>
                <a:latin typeface="Calibri"/>
              </a:rPr>
              <a:t>Quantified over all 9 test matches: 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the ROUGE-best model (fine-tuned BART) states the correct final score in </a:t>
            </a:r>
            <a:r>
              <a:rPr sz="1500" b="1" i="0">
                <a:solidFill>
                  <a:srgbClr val="F27A6E"/>
                </a:solidFill>
                <a:latin typeface="Calibri"/>
              </a:rPr>
              <a:t>0 of 9 matches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 and recalls only 30% of reference scorers. Fine-tuned LED: 1/9 scores, 15% scorers. Its scorelines are decorative — 1–1, 2–2, 1–0 regardless of the real 0–4, 3–0…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4F6FA"/>
                </a:solidFill>
                <a:latin typeface="Calibri"/>
              </a:rPr>
              <a:t>ROUGE rewards the hallucination: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the overlapping n-grams (team names, date formats, report style) are exactly what the models reproduce; wrong facts cost nothing.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4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09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Models optimise the reference, not the source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BERTScore vs reference · NLI entailment vs transcript (DeBERTa-MNLI, TF-IDF-retrieved windows)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874519"/>
            <a:ext cx="8522208" cy="31132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104" y="2020823"/>
            <a:ext cx="8229600" cy="28206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074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400" b="1" i="0">
                <a:solidFill>
                  <a:srgbClr val="F27A6E"/>
                </a:solidFill>
                <a:latin typeface="Calibri"/>
              </a:rPr>
              <a:t>The rankings invert:  </a:t>
            </a:r>
            <a:r>
              <a:rPr sz="1400" b="0" i="0">
                <a:solidFill>
                  <a:srgbClr val="F4F6FA"/>
                </a:solidFill>
                <a:latin typeface="Calibri"/>
              </a:rPr>
              <a:t>fine-tuned BART — best on every reference-based metric — has 0% of sentences entailed by the transcript; prompted long-context LED, worst on ROUGE, is best-grounded (34%) because it copies the commentary it reads.</a:t>
            </a:r>
          </a:p>
          <a:p>
            <a:pPr>
              <a:spcAft>
                <a:spcPts val="900"/>
              </a:spcAft>
            </a:pPr>
            <a:r>
              <a:rPr sz="12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400" b="1" i="0">
                <a:solidFill>
                  <a:srgbClr val="F4F6FA"/>
                </a:solidFill>
                <a:latin typeface="Calibri"/>
              </a:rPr>
              <a:t>Fine-tuning on GPT-4 references optimises agreement with the references at the expense of grounding in the input. </a:t>
            </a:r>
            <a:r>
              <a:rPr sz="1300" b="0" i="0">
                <a:solidFill>
                  <a:srgbClr val="939FB0"/>
                </a:solidFill>
                <a:latin typeface="Calibri"/>
              </a:rPr>
              <a:t>(NLI rates are conservative lower bounds — register gap, ASR noise — so compare across conditions, not absolutely.)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ENGINEERING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10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The biggest improvement was not a model change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27A6E"/>
                </a:solidFill>
                <a:latin typeface="Calibri"/>
              </a:rPr>
              <a:t>33% of training references were 0-byte files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4F6FA"/>
                </a:solidFill>
                <a:latin typeface="Calibri"/>
              </a:rPr>
              <a:t>LED also needed 5 bug fixes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3DD6B8"/>
                </a:solidFill>
                <a:latin typeface="Calibri"/>
              </a:rPr>
              <a:t>After the fixes: a clean, monotone training curve → the earlier collapses were data and code defects, not modelling limits.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2148840"/>
            <a:ext cx="5001768" cy="29418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304" y="2295144"/>
            <a:ext cx="4709160" cy="26492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1">
                <a:solidFill>
                  <a:srgbClr val="939FB0"/>
                </a:solidFill>
                <a:latin typeface="Calibri"/>
              </a:rPr>
              <a:t>LED fine-tuning after the fixes: val ROUGE-L peaks at 0.172 (epoch 9).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CONCLUSIONS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11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What we learned, and where it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4F6FA"/>
                </a:solidFill>
                <a:latin typeface="Calibri"/>
              </a:rPr>
              <a:t>1.  Fine-tuning a distribution-matched chunk pipeline is the best recipe at small N </a:t>
            </a:r>
            <a:r>
              <a:rPr sz="1600" b="0" i="0">
                <a:solidFill>
                  <a:srgbClr val="F4F6FA"/>
                </a:solidFill>
                <a:latin typeface="Calibri"/>
              </a:rPr>
              <a:t>— +69% over the same pre-trained model, +55% over the best prompting baseline.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4F6FA"/>
                </a:solidFill>
                <a:latin typeface="Calibri"/>
              </a:rPr>
              <a:t>2.  Context length is not a substitute for supervision </a:t>
            </a:r>
            <a:r>
              <a:rPr sz="1600" b="0" i="0">
                <a:solidFill>
                  <a:srgbClr val="F4F6FA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4F6FA"/>
                </a:solidFill>
                <a:latin typeface="Calibri"/>
              </a:rPr>
              <a:t>3.  Reference similarity and source grounding fully decouple </a:t>
            </a:r>
            <a:r>
              <a:rPr sz="1600" b="0" i="0">
                <a:solidFill>
                  <a:srgbClr val="F4F6FA"/>
                </a:solidFill>
                <a:latin typeface="Calibri"/>
              </a:rPr>
              <a:t>— the ROUGE- and BERTScore-best model never states the correct score (0/9) and has 0% of sentences entailed by the transcript. Optimising a faithfulness signal, not just measuring one, is the natural next step.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27A6E"/>
                </a:solidFill>
                <a:latin typeface="Calibri"/>
              </a:rPr>
              <a:t>Limitations we state openly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n = 9 test matches → bootstrap CIs resolve fine-tuning vs prompting (significant) but not BART vs LED (+0.029 [−0.014, +0.070]).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NLI support rates are conservative lower bounds (ASR-noisy premises, register gap); entity precision is still unmeasured. LED was trained pre-fix (evaluation clean, training not).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